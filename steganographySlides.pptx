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3" r:id="rId4"/>
    <p:sldId id="261" r:id="rId5"/>
    <p:sldId id="262" r:id="rId6"/>
    <p:sldId id="264" r:id="rId7"/>
    <p:sldId id="265" r:id="rId8"/>
    <p:sldId id="266" r:id="rId9"/>
    <p:sldId id="26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9" autoAdjust="0"/>
    <p:restoredTop sz="94660"/>
  </p:normalViewPr>
  <p:slideViewPr>
    <p:cSldViewPr snapToGrid="0">
      <p:cViewPr varScale="1">
        <p:scale>
          <a:sx n="132" d="100"/>
          <a:sy n="132" d="100"/>
        </p:scale>
        <p:origin x="10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2094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20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45088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14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00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50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507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242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765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823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03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25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2F275-561D-44D3-8913-3ED0B7B56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3763" y="460310"/>
            <a:ext cx="9144000" cy="257690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Steganography: 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Hiding Information in Digital Media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BA122D-46FA-4EB4-8CC8-8B0F0BC7EE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3763" y="3763769"/>
            <a:ext cx="5884506" cy="2220264"/>
          </a:xfrm>
        </p:spPr>
        <p:txBody>
          <a:bodyPr>
            <a:normAutofit fontScale="55000" lnSpcReduction="20000"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Group Members:</a:t>
            </a:r>
          </a:p>
          <a:p>
            <a:pPr>
              <a:lnSpc>
                <a:spcPct val="120000"/>
              </a:lnSpc>
            </a:pPr>
            <a:b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3200" dirty="0">
                <a:latin typeface="Arial" panose="020B0604020202020204" pitchFamily="34" charset="0"/>
                <a:cs typeface="Arial" panose="020B0604020202020204" pitchFamily="34" charset="0"/>
              </a:rPr>
              <a:t>Shima Vosoogh </a:t>
            </a:r>
            <a:br>
              <a:rPr lang="it-IT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3200" dirty="0">
                <a:latin typeface="Arial" panose="020B0604020202020204" pitchFamily="34" charset="0"/>
                <a:cs typeface="Arial" panose="020B0604020202020204" pitchFamily="34" charset="0"/>
              </a:rPr>
              <a:t>Rafia Riana</a:t>
            </a:r>
            <a:b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3200" dirty="0">
                <a:latin typeface="Arial" panose="020B0604020202020204" pitchFamily="34" charset="0"/>
                <a:cs typeface="Arial" panose="020B0604020202020204" pitchFamily="34" charset="0"/>
              </a:rPr>
              <a:t>Gulpari Alandarova</a:t>
            </a:r>
          </a:p>
          <a:p>
            <a:pPr algn="l"/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561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02FE-B970-49D9-9AE5-ABBD591B4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26" y="324013"/>
            <a:ext cx="9692640" cy="714718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Steganography?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4AFDD-7AF9-4A73-B0F8-8FE6C1072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574157"/>
            <a:ext cx="10278089" cy="4351337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the practice of hiding information inside another information object (called carrier), such as a text message that is hidden inside an image.</a:t>
            </a:r>
          </a:p>
          <a:p>
            <a:pPr marL="0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goal is to make sure the hidden information remain invisible to unintended receivers.</a:t>
            </a:r>
          </a:p>
          <a:p>
            <a:pPr marL="0" indent="0">
              <a:buNone/>
            </a:pPr>
            <a:endParaRPr lang="en-US" dirty="0">
              <a:latin typeface="Abadi" panose="020F0502020204030204" pitchFamily="34" charset="0"/>
            </a:endParaRPr>
          </a:p>
        </p:txBody>
      </p:sp>
      <p:pic>
        <p:nvPicPr>
          <p:cNvPr id="7" name="Picture 6" descr="White circuit board pattern">
            <a:extLst>
              <a:ext uri="{FF2B5EF4-FFF2-40B4-BE49-F238E27FC236}">
                <a16:creationId xmlns:a16="http://schemas.microsoft.com/office/drawing/2014/main" id="{CCD4C467-2D00-C73E-5CC9-78B638345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225" y="3731788"/>
            <a:ext cx="3638843" cy="2729132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58A826-0B35-DB1C-B818-24F54D1170AB}"/>
              </a:ext>
            </a:extLst>
          </p:cNvPr>
          <p:cNvCxnSpPr>
            <a:cxnSpLocks/>
            <a:stCxn id="8" idx="0"/>
          </p:cNvCxnSpPr>
          <p:nvPr/>
        </p:nvCxnSpPr>
        <p:spPr>
          <a:xfrm flipH="1">
            <a:off x="3044142" y="4329110"/>
            <a:ext cx="3331060" cy="2789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E2FD45-ABCB-7B0B-C1C0-F2CC28548F84}"/>
              </a:ext>
            </a:extLst>
          </p:cNvPr>
          <p:cNvCxnSpPr>
            <a:cxnSpLocks/>
            <a:stCxn id="8" idx="4"/>
          </p:cNvCxnSpPr>
          <p:nvPr/>
        </p:nvCxnSpPr>
        <p:spPr>
          <a:xfrm flipH="1" flipV="1">
            <a:off x="2992056" y="4774557"/>
            <a:ext cx="3383146" cy="12840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819AF02-3A47-1205-7608-11BDE9866A6A}"/>
              </a:ext>
            </a:extLst>
          </p:cNvPr>
          <p:cNvSpPr/>
          <p:nvPr/>
        </p:nvSpPr>
        <p:spPr>
          <a:xfrm>
            <a:off x="5510439" y="4329110"/>
            <a:ext cx="1729525" cy="1729525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2060"/>
                </a:solidFill>
              </a:rPr>
              <a:t>Hi, Seneca!</a:t>
            </a:r>
            <a:endParaRPr lang="en-CA" sz="20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285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5DBB3-AC3E-7DDB-EC32-6418288B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3B79-6CEB-DD4C-9ADC-DA033E36D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26" y="324013"/>
            <a:ext cx="9692640" cy="714718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Steganography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BB023-1613-1176-E6E0-628664678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794076"/>
            <a:ext cx="10058169" cy="4351337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Text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text documents.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Image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digital images.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Audio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audio files.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Video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video files.</a:t>
            </a:r>
          </a:p>
          <a:p>
            <a:pPr marL="0" indent="0">
              <a:buNone/>
            </a:pPr>
            <a:endParaRPr lang="en-US" dirty="0">
              <a:latin typeface="Abad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77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AF46-024E-4562-8F68-C61D92561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1"/>
            <a:ext cx="9692640" cy="735252"/>
          </a:xfrm>
        </p:spPr>
        <p:txBody>
          <a:bodyPr/>
          <a:lstStyle/>
          <a:p>
            <a:r>
              <a:rPr lang="en-US" dirty="0"/>
              <a:t>Introduction to 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44AFD-FC69-4A81-B18C-A87461104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Image steganography is a technique used to hide secret information inside digital images without noticeably changing their appearance.</a:t>
            </a:r>
          </a:p>
          <a:p>
            <a:pPr marL="0" indent="0">
              <a:buNone/>
            </a:pPr>
            <a:r>
              <a:rPr lang="en-US" dirty="0"/>
              <a:t>The hidden information may include text messages, passwords, documents, or other data.</a:t>
            </a:r>
          </a:p>
          <a:p>
            <a:pPr marL="0" indent="0">
              <a:buNone/>
            </a:pPr>
            <a:r>
              <a:rPr lang="en-US" dirty="0"/>
              <a:t>Because the modifications are very small, the image appears unchanged to the human eye.</a:t>
            </a:r>
          </a:p>
          <a:p>
            <a:pPr marL="0" indent="0">
              <a:buNone/>
            </a:pPr>
            <a:r>
              <a:rPr lang="en-US" b="1" dirty="0"/>
              <a:t>Why use images?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Images are widely shared online.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contain millions of pixels.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Small changes are difficult to detect.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can store a significant amount of hidden information.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8760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44439-5FED-4AB1-94F8-291B5550D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797456"/>
          </a:xfrm>
        </p:spPr>
        <p:txBody>
          <a:bodyPr/>
          <a:lstStyle/>
          <a:p>
            <a:r>
              <a:rPr lang="en-US" dirty="0"/>
              <a:t>How Image Steganography Works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ACFC69-7E94-4059-8EA1-D3DFF0BB2F1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5820" y="2737454"/>
            <a:ext cx="4939004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Select a cover image.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Prepare the secret message.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Convert the message into binary format.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Embed the data into image pixels.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Generate 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stego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Extract the hidden information when needed.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56211-CACD-4341-9F10-D2D7DCB49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92" y="2183363"/>
            <a:ext cx="4474028" cy="29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356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40D3F-B3FA-8ED4-9B11-1D4E2D543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4ADBF-28D9-A846-9A19-BADC8161F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26" y="324013"/>
            <a:ext cx="9692640" cy="714718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Text Steganography?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F60A0-500B-2161-BB70-1F812E45F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574157"/>
            <a:ext cx="10278089" cy="4351337"/>
          </a:xfrm>
        </p:spPr>
        <p:txBody>
          <a:bodyPr/>
          <a:lstStyle/>
          <a:p>
            <a:pPr marL="0" indent="0">
              <a:buNone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Text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the practice of hiding text information inside another text object such as a digital book or a document.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badi" panose="020F050202020403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badi" panose="020F0502020204030204" pitchFamily="34" charset="0"/>
                <a:cs typeface="Arial" panose="020B0604020202020204" pitchFamily="34" charset="0"/>
              </a:rPr>
              <a:t> Text steganography can be done by hiding non-text information inside text objects like audio in text. However, that first requires an audio to text conversion!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badi" panose="020F050202020403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badi" panose="020F0502020204030204" pitchFamily="34" charset="0"/>
                <a:cs typeface="Arial" panose="020B0604020202020204" pitchFamily="34" charset="0"/>
              </a:rPr>
              <a:t> Text steganography is also one of the ancient forms of hiding information.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0169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F753-8CFF-202B-19CB-152C4EAA5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08D7B-869F-CAE0-A544-696336D5F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706" y="341378"/>
            <a:ext cx="10625330" cy="717709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Common Text Steganography Methods?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B1959-7608-05BA-E7A3-FB8B9C323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574157"/>
            <a:ext cx="10278089" cy="4351337"/>
          </a:xfrm>
        </p:spPr>
        <p:txBody>
          <a:bodyPr/>
          <a:lstStyle/>
          <a:p>
            <a:pPr marL="0" indent="0">
              <a:buNone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27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Using sentence features</a:t>
            </a:r>
          </a:p>
          <a:p>
            <a:pPr lvl="1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Taking advantage of punctuative letters like “,” and “.” to represent 0 and 1 of the ASCII codes for the hidden text letter.</a:t>
            </a:r>
          </a:p>
          <a:p>
            <a:pPr marL="274320" lvl="1" indent="0">
              <a:lnSpc>
                <a:spcPct val="100000"/>
              </a:lnSpc>
              <a:buNone/>
            </a:pP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27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Using the structure of the carrier object</a:t>
            </a:r>
          </a:p>
          <a:p>
            <a:pPr lvl="1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Taking advantage of the tabs and spacing to represent the bits of the ASCII codes for the letters of the hidden text.</a:t>
            </a:r>
          </a:p>
          <a:p>
            <a:pPr marL="274320" lvl="1" indent="0">
              <a:lnSpc>
                <a:spcPct val="100000"/>
              </a:lnSpc>
              <a:buNone/>
            </a:pP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111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0092C-4552-A610-B91D-A4F37EB0B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4E720-B4D0-8DB6-202A-78F4FC300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706" y="341378"/>
            <a:ext cx="10625330" cy="717709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Common Text Steganography Methods?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AAD8C-CE48-E9B1-B973-049226043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7" y="1313725"/>
            <a:ext cx="10063958" cy="476298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US" sz="4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2700"/>
              </a:lnSpc>
              <a:buFont typeface="Wingdings" panose="05000000000000000000" pitchFamily="2" charset="2"/>
              <a:buChar char="Ø"/>
            </a:pP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Using semantic modifications</a:t>
            </a:r>
          </a:p>
          <a:p>
            <a:pPr lvl="1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Replacing highly frequent words in the carrier with their synonyms that contain letter of the hidden text.</a:t>
            </a:r>
          </a:p>
          <a:p>
            <a:pPr>
              <a:lnSpc>
                <a:spcPts val="2700"/>
              </a:lnSpc>
              <a:buFont typeface="Wingdings" panose="05000000000000000000" pitchFamily="2" charset="2"/>
              <a:buChar char="Ø"/>
            </a:pP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Using file formats</a:t>
            </a:r>
          </a:p>
          <a:p>
            <a:pPr lvl="1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Taking advantage of programming source code files to include hidden texts where applicable such as case-sensitive statements and variable names.</a:t>
            </a:r>
          </a:p>
          <a:p>
            <a:pPr>
              <a:lnSpc>
                <a:spcPts val="2700"/>
              </a:lnSpc>
              <a:buFont typeface="Wingdings" panose="05000000000000000000" pitchFamily="2" charset="2"/>
              <a:buChar char="Ø"/>
            </a:pP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 New: Generative AI</a:t>
            </a:r>
          </a:p>
          <a:p>
            <a:pPr lvl="1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2900" dirty="0">
                <a:latin typeface="Arial" panose="020B0604020202020204" pitchFamily="34" charset="0"/>
                <a:cs typeface="Arial" panose="020B0604020202020204" pitchFamily="34" charset="0"/>
              </a:rPr>
              <a:t>Taking advantage of generative AI capabilities to hide messages. Generative AI can produce invisible patterns and combine various methods like semantic and sentence features to hide the message.</a:t>
            </a:r>
          </a:p>
          <a:p>
            <a:pPr lvl="1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74320" lvl="1" indent="0">
              <a:lnSpc>
                <a:spcPct val="100000"/>
              </a:lnSpc>
              <a:buNone/>
            </a:pP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993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C251-3750-7D17-2890-A901AE19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71C33-C97C-DA17-2E59-FCF359626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706" y="341378"/>
            <a:ext cx="10625330" cy="717709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Text Steganography Benefits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5562F33-0501-37A5-9098-86A5D7B43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574157"/>
            <a:ext cx="10006083" cy="435133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ts val="2800"/>
              </a:lnSpc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Unlike text cryptography which makes information non-understandable, steganography hides information from an ordinary eye. 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Therefore, text steganography can be used to:</a:t>
            </a:r>
          </a:p>
          <a:p>
            <a:pPr marL="0" indent="0">
              <a:lnSpc>
                <a:spcPts val="5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badi" panose="020F0502020204030204" pitchFamily="34" charset="0"/>
                <a:cs typeface="Arial" panose="020B0604020202020204" pitchFamily="34" charset="0"/>
              </a:rPr>
              <a:t> Hide the existence of a message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badi" panose="020F0502020204030204" pitchFamily="34" charset="0"/>
                <a:cs typeface="Arial" panose="020B0604020202020204" pitchFamily="34" charset="0"/>
              </a:rPr>
              <a:t> Lowering the chance of auditing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badi" panose="020F0502020204030204" pitchFamily="34" charset="0"/>
                <a:cs typeface="Arial" panose="020B0604020202020204" pitchFamily="34" charset="0"/>
              </a:rPr>
              <a:t> Digitally signing a document for authenticity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As an additional layer of 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security alongside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encryption</a:t>
            </a:r>
          </a:p>
        </p:txBody>
      </p:sp>
    </p:spTree>
    <p:extLst>
      <p:ext uri="{BB962C8B-B14F-4D97-AF65-F5344CB8AC3E}">
        <p14:creationId xmlns:p14="http://schemas.microsoft.com/office/powerpoint/2010/main" val="505410408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255</TotalTime>
  <Words>524</Words>
  <Application>Microsoft Office PowerPoint</Application>
  <PresentationFormat>Widescreen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Abadi</vt:lpstr>
      <vt:lpstr>Arial</vt:lpstr>
      <vt:lpstr>Century Schoolbook</vt:lpstr>
      <vt:lpstr>Wingdings</vt:lpstr>
      <vt:lpstr>Wingdings 2</vt:lpstr>
      <vt:lpstr>View</vt:lpstr>
      <vt:lpstr>Steganography:  Hiding Information in Digital Media</vt:lpstr>
      <vt:lpstr>What is Steganography?</vt:lpstr>
      <vt:lpstr>Steganography Types</vt:lpstr>
      <vt:lpstr>Introduction to Image Steganography</vt:lpstr>
      <vt:lpstr>How Image Steganography Works</vt:lpstr>
      <vt:lpstr>What is Text Steganography?</vt:lpstr>
      <vt:lpstr>Common Text Steganography Methods?</vt:lpstr>
      <vt:lpstr>Common Text Steganography Methods?</vt:lpstr>
      <vt:lpstr>Text Steganography Benefits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Steganography: Hiding Information in Digital Media</dc:title>
  <dc:creator>gulperi.elenderova8@gmail.com</dc:creator>
  <cp:lastModifiedBy>Morteza Moghaddassian</cp:lastModifiedBy>
  <cp:revision>25</cp:revision>
  <dcterms:created xsi:type="dcterms:W3CDTF">2026-06-18T21:35:12Z</dcterms:created>
  <dcterms:modified xsi:type="dcterms:W3CDTF">2026-06-19T07:00:16Z</dcterms:modified>
</cp:coreProperties>
</file>