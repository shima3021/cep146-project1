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89" autoAdjust="0"/>
    <p:restoredTop sz="94660"/>
  </p:normalViewPr>
  <p:slideViewPr>
    <p:cSldViewPr snapToGrid="0">
      <p:cViewPr varScale="1">
        <p:scale>
          <a:sx n="77" d="100"/>
          <a:sy n="77" d="100"/>
        </p:scale>
        <p:origin x="267" y="4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bg>
      <p:bgPr>
        <a:solidFill>
          <a:schemeClr val="bg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261872" y="758952"/>
            <a:ext cx="9418320" cy="4041648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720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61872" y="4800600"/>
            <a:ext cx="9418320" cy="1691640"/>
          </a:xfrm>
        </p:spPr>
        <p:txBody>
          <a:bodyPr>
            <a:normAutofit/>
          </a:bodyPr>
          <a:lstStyle>
            <a:lvl1pPr marL="0" indent="0" algn="l">
              <a:buNone/>
              <a:defRPr sz="2200" baseline="0">
                <a:solidFill>
                  <a:schemeClr val="tx1">
                    <a:lumMod val="75000"/>
                  </a:schemeClr>
                </a:solidFill>
              </a:defRPr>
            </a:lvl1pPr>
            <a:lvl2pPr marL="457200" indent="0" algn="ctr">
              <a:buNone/>
              <a:defRPr sz="2200"/>
            </a:lvl2pPr>
            <a:lvl3pPr marL="914400" indent="0" algn="ctr">
              <a:buNone/>
              <a:defRPr sz="22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50000"/>
                  </a:schemeClr>
                </a:solidFill>
              </a:defRPr>
            </a:lvl1pPr>
          </a:lstStyle>
          <a:p>
            <a:fld id="{BB668030-A114-4385-8D34-D6535427301A}" type="datetimeFigureOut">
              <a:rPr lang="en-US" smtClean="0"/>
              <a:t>6/19/2026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6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65000"/>
                  </a:schemeClr>
                </a:solidFill>
              </a:defRPr>
            </a:lvl1pPr>
          </a:lstStyle>
          <a:p>
            <a:fld id="{9F0B2246-9E91-403D-B2BF-AC481CB262BD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149209485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668030-A114-4385-8D34-D6535427301A}" type="datetimeFigureOut">
              <a:rPr lang="en-US" smtClean="0"/>
              <a:t>6/19/2026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0B2246-9E91-403D-B2BF-AC481CB262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78205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61872" y="758952"/>
            <a:ext cx="9418320" cy="4041648"/>
          </a:xfrm>
        </p:spPr>
        <p:txBody>
          <a:bodyPr anchor="b">
            <a:normAutofit/>
          </a:bodyPr>
          <a:lstStyle>
            <a:lvl1pPr>
              <a:lnSpc>
                <a:spcPct val="85000"/>
              </a:lnSpc>
              <a:defRPr sz="72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61872" y="4800600"/>
            <a:ext cx="9418320" cy="1691640"/>
          </a:xfrm>
        </p:spPr>
        <p:txBody>
          <a:bodyPr anchor="t">
            <a:normAutofit/>
          </a:bodyPr>
          <a:lstStyle>
            <a:lvl1pPr marL="0" indent="0">
              <a:buNone/>
              <a:defRPr sz="22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668030-A114-4385-8D34-D6535427301A}" type="datetimeFigureOut">
              <a:rPr lang="en-US" smtClean="0"/>
              <a:t>6/19/2026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0B2246-9E91-403D-B2BF-AC481CB262BD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3445088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61872" y="1828800"/>
            <a:ext cx="4480560" cy="4351337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6480" y="1828800"/>
            <a:ext cx="4480560" cy="4351337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668030-A114-4385-8D34-D6535427301A}" type="datetimeFigureOut">
              <a:rPr lang="en-US" smtClean="0"/>
              <a:t>6/19/2026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0B2246-9E91-403D-B2BF-AC481CB262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24148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61872" y="1713655"/>
            <a:ext cx="4480560" cy="731520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000" b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61872" y="2507550"/>
            <a:ext cx="4480560" cy="366465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26480" y="1713655"/>
            <a:ext cx="4480560" cy="731520"/>
          </a:xfrm>
        </p:spPr>
        <p:txBody>
          <a:bodyPr anchor="b">
            <a:normAutofit/>
          </a:bodyPr>
          <a:lstStyle>
            <a:lvl1pPr marL="0" indent="0">
              <a:lnSpc>
                <a:spcPct val="95000"/>
              </a:lnSpc>
              <a:spcBef>
                <a:spcPts val="0"/>
              </a:spcBef>
              <a:buNone/>
              <a:defRPr lang="en-US" sz="2000" b="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2000"/>
              </a:spcBef>
              <a:buFontTx/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26480" y="2507550"/>
            <a:ext cx="4480560" cy="366465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668030-A114-4385-8D34-D6535427301A}" type="datetimeFigureOut">
              <a:rPr lang="en-US" smtClean="0"/>
              <a:t>6/19/2026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0B2246-9E91-403D-B2BF-AC481CB262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15005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668030-A114-4385-8D34-D6535427301A}" type="datetimeFigureOut">
              <a:rPr lang="en-US" smtClean="0"/>
              <a:t>6/19/2026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0B2246-9E91-403D-B2BF-AC481CB262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0506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668030-A114-4385-8D34-D6535427301A}" type="datetimeFigureOut">
              <a:rPr lang="en-US" smtClean="0"/>
              <a:t>6/19/2026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0B2246-9E91-403D-B2BF-AC481CB262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25075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457200"/>
            <a:ext cx="3200400" cy="1600197"/>
          </a:xfrm>
        </p:spPr>
        <p:txBody>
          <a:bodyPr anchor="b">
            <a:normAutofit/>
          </a:bodyPr>
          <a:lstStyle>
            <a:lvl1pPr>
              <a:defRPr sz="3200" b="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04267" y="685800"/>
            <a:ext cx="6079066" cy="548640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1248" y="2099734"/>
            <a:ext cx="3200400" cy="3810001"/>
          </a:xfrm>
        </p:spPr>
        <p:txBody>
          <a:bodyPr>
            <a:normAutofit/>
          </a:bodyPr>
          <a:lstStyle>
            <a:lvl1pPr marL="0" indent="0">
              <a:lnSpc>
                <a:spcPct val="114000"/>
              </a:lnSpc>
              <a:spcBef>
                <a:spcPts val="800"/>
              </a:spcBef>
              <a:buNone/>
              <a:defRPr sz="13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668030-A114-4385-8D34-D6535427301A}" type="datetimeFigureOut">
              <a:rPr lang="en-US" smtClean="0"/>
              <a:t>6/19/2026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0B2246-9E91-403D-B2BF-AC481CB262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424219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5105400"/>
            <a:ext cx="11292840" cy="17526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5257800"/>
            <a:ext cx="9982200" cy="914400"/>
          </a:xfrm>
        </p:spPr>
        <p:txBody>
          <a:bodyPr anchor="b">
            <a:normAutofit/>
          </a:bodyPr>
          <a:lstStyle>
            <a:lvl1pPr>
              <a:defRPr sz="2800" b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0"/>
            <a:ext cx="11292840" cy="5128923"/>
          </a:xfrm>
          <a:solidFill>
            <a:schemeClr val="accent1"/>
          </a:solidFill>
        </p:spPr>
        <p:txBody>
          <a:bodyPr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4400" y="6108589"/>
            <a:ext cx="9982200" cy="597011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800"/>
              </a:spcBef>
              <a:buNone/>
              <a:defRPr sz="1300">
                <a:solidFill>
                  <a:schemeClr val="bg1">
                    <a:lumMod val="85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668030-A114-4385-8D34-D6535427301A}" type="datetimeFigureOut">
              <a:rPr lang="en-US" smtClean="0"/>
              <a:t>6/19/2026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0B2246-9E91-403D-B2BF-AC481CB262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07650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668030-A114-4385-8D34-D6535427301A}" type="datetimeFigureOut">
              <a:rPr lang="en-US" smtClean="0"/>
              <a:t>6/19/2026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0B2246-9E91-403D-B2BF-AC481CB262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88237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48700" y="381000"/>
            <a:ext cx="2476500" cy="5897562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62000" y="381000"/>
            <a:ext cx="7734300" cy="589756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668030-A114-4385-8D34-D6535427301A}" type="datetimeFigureOut">
              <a:rPr lang="en-US" smtClean="0"/>
              <a:t>6/19/2026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0B2246-9E91-403D-B2BF-AC481CB262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00301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1292840" y="0"/>
            <a:ext cx="914400" cy="6858000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61872" y="365760"/>
            <a:ext cx="9692640" cy="132556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61872" y="1828800"/>
            <a:ext cx="8595360" cy="435133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16200000">
            <a:off x="10797542" y="998537"/>
            <a:ext cx="19049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 b="0">
                <a:solidFill>
                  <a:schemeClr val="tx2">
                    <a:lumMod val="20000"/>
                    <a:lumOff val="80000"/>
                  </a:schemeClr>
                </a:solidFill>
              </a:defRPr>
            </a:lvl1pPr>
          </a:lstStyle>
          <a:p>
            <a:fld id="{BB668030-A114-4385-8D34-D6535427301A}" type="datetimeFigureOut">
              <a:rPr lang="en-US" smtClean="0"/>
              <a:t>6/19/2026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16200000">
            <a:off x="9959341" y="4046537"/>
            <a:ext cx="3581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2">
                    <a:lumMod val="20000"/>
                    <a:lumOff val="8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292840" y="6172200"/>
            <a:ext cx="914400" cy="593725"/>
          </a:xfrm>
          <a:prstGeom prst="rect">
            <a:avLst/>
          </a:prstGeom>
        </p:spPr>
        <p:txBody>
          <a:bodyPr vert="horz" lIns="45720" tIns="45720" rIns="45720" bIns="45720" rtlCol="0" anchor="ctr">
            <a:normAutofit/>
          </a:bodyPr>
          <a:lstStyle>
            <a:lvl1pPr algn="ctr">
              <a:defRPr sz="3600">
                <a:solidFill>
                  <a:schemeClr val="tx2">
                    <a:lumMod val="60000"/>
                    <a:lumOff val="40000"/>
                  </a:schemeClr>
                </a:solidFill>
              </a:defRPr>
            </a:lvl1pPr>
          </a:lstStyle>
          <a:p>
            <a:fld id="{9F0B2246-9E91-403D-B2BF-AC481CB262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92578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 spc="-5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lnSpc>
          <a:spcPct val="95000"/>
        </a:lnSpc>
        <a:spcBef>
          <a:spcPts val="1400"/>
        </a:spcBef>
        <a:spcAft>
          <a:spcPts val="200"/>
        </a:spcAft>
        <a:buClr>
          <a:schemeClr val="accent1"/>
        </a:buClr>
        <a:buSzPct val="80000"/>
        <a:buFont typeface="Arial" pitchFamily="34" charset="0"/>
        <a:buChar char="•"/>
        <a:defRPr sz="1800" kern="1200" spc="10" baseline="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73152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100584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28016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6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6pPr>
      <a:lvl7pPr marL="19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7pPr>
      <a:lvl8pPr marL="22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8pPr>
      <a:lvl9pPr marL="25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2F275-561D-44D3-8913-3ED0B7B56E0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73763" y="460310"/>
            <a:ext cx="9144000" cy="2576901"/>
          </a:xfrm>
        </p:spPr>
        <p:txBody>
          <a:bodyPr>
            <a:normAutofit fontScale="90000"/>
          </a:bodyPr>
          <a:lstStyle/>
          <a:p>
            <a:r>
              <a:rPr lang="en-US" b="1" dirty="0"/>
              <a:t>Steganography: Hiding Information in Digital Media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6BA122D-46FA-4EB4-8CC8-8B0F0BC7EE4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3763" y="3763769"/>
            <a:ext cx="5884506" cy="2220264"/>
          </a:xfrm>
        </p:spPr>
        <p:txBody>
          <a:bodyPr>
            <a:normAutofit fontScale="70000" lnSpcReduction="20000"/>
          </a:bodyPr>
          <a:lstStyle/>
          <a:p>
            <a:r>
              <a:rPr lang="en-US" sz="3300" dirty="0"/>
              <a:t>Group Members:</a:t>
            </a:r>
          </a:p>
          <a:p>
            <a:pPr>
              <a:lnSpc>
                <a:spcPct val="120000"/>
              </a:lnSpc>
            </a:pPr>
            <a:br>
              <a:rPr lang="en-US" dirty="0"/>
            </a:br>
            <a:r>
              <a:rPr lang="it-IT" sz="2600" dirty="0"/>
              <a:t>Shima Vosoogh </a:t>
            </a:r>
            <a:br>
              <a:rPr lang="it-IT" sz="2600" dirty="0"/>
            </a:br>
            <a:r>
              <a:rPr lang="it-IT" sz="2600" dirty="0"/>
              <a:t>Rafia Riana</a:t>
            </a:r>
            <a:br>
              <a:rPr lang="en-US" sz="2600" dirty="0"/>
            </a:br>
            <a:r>
              <a:rPr lang="it-IT" sz="2600" dirty="0"/>
              <a:t>Gulpari Alandarova</a:t>
            </a:r>
          </a:p>
          <a:p>
            <a:pPr algn="l"/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425615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FA3EE0-D76D-4728-90B4-0759F1522A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61872" y="365760"/>
            <a:ext cx="9692640" cy="785016"/>
          </a:xfrm>
        </p:spPr>
        <p:txBody>
          <a:bodyPr/>
          <a:lstStyle/>
          <a:p>
            <a:r>
              <a:rPr lang="en-US" dirty="0"/>
              <a:t>Information Security (InfoSec)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3EDB01-43F5-4701-A75B-E43BEBCFC5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b="1" dirty="0"/>
              <a:t>What is Information Security?</a:t>
            </a:r>
          </a:p>
          <a:p>
            <a:pPr marL="0" indent="0">
              <a:buNone/>
            </a:pPr>
            <a:r>
              <a:rPr lang="en-US" dirty="0"/>
              <a:t>Information Security (InfoSec) is the practice of protecting information from unauthorized access, modification, disclosure, or destruction.</a:t>
            </a:r>
          </a:p>
          <a:p>
            <a:pPr marL="0" indent="0">
              <a:buNone/>
            </a:pPr>
            <a:r>
              <a:rPr lang="en-US" dirty="0"/>
              <a:t>The main goal of information security is to protect valuable data and ensure that it remains secure.</a:t>
            </a:r>
          </a:p>
          <a:p>
            <a:pPr marL="0" indent="0">
              <a:buNone/>
            </a:pPr>
            <a:r>
              <a:rPr lang="en-US" b="1" dirty="0"/>
              <a:t>CIA Triad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Confidentiality</a:t>
            </a:r>
            <a:r>
              <a:rPr lang="en-US" dirty="0"/>
              <a:t> – Protecting data from unauthorized access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Integrity</a:t>
            </a:r>
            <a:r>
              <a:rPr lang="en-US" dirty="0"/>
              <a:t> – Maintaining data accuracy and consistency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Availability</a:t>
            </a:r>
            <a:r>
              <a:rPr lang="en-US" dirty="0"/>
              <a:t> – Ensuring data is accessible when </a:t>
            </a:r>
            <a:r>
              <a:rPr lang="en-US" dirty="0" err="1"/>
              <a:t>neede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1576642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6A4E59-E97E-48A4-BFC5-CADF73A4B7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61872" y="365760"/>
            <a:ext cx="9692640" cy="735252"/>
          </a:xfrm>
        </p:spPr>
        <p:txBody>
          <a:bodyPr/>
          <a:lstStyle/>
          <a:p>
            <a:r>
              <a:rPr lang="en-US" dirty="0"/>
              <a:t>Security Techniques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D8B036-A9B5-4F18-82FE-C4C92975DC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Several techniques are used to protect information:</a:t>
            </a:r>
          </a:p>
          <a:p>
            <a:r>
              <a:rPr lang="en-US" b="1" dirty="0"/>
              <a:t>Encryption</a:t>
            </a:r>
          </a:p>
          <a:p>
            <a:pPr marL="0" indent="0">
              <a:buNone/>
            </a:pPr>
            <a:r>
              <a:rPr lang="en-US" dirty="0"/>
              <a:t>Converts readable information into an unreadable format.</a:t>
            </a:r>
          </a:p>
          <a:p>
            <a:r>
              <a:rPr lang="en-US" b="1" dirty="0"/>
              <a:t>Authentication</a:t>
            </a:r>
          </a:p>
          <a:p>
            <a:pPr marL="0" indent="0">
              <a:buNone/>
            </a:pPr>
            <a:r>
              <a:rPr lang="en-US" dirty="0"/>
              <a:t>Verifies the identity of users.</a:t>
            </a:r>
          </a:p>
          <a:p>
            <a:r>
              <a:rPr lang="en-US" b="1" dirty="0"/>
              <a:t>Access Control</a:t>
            </a:r>
          </a:p>
          <a:p>
            <a:pPr marL="0" indent="0">
              <a:buNone/>
            </a:pPr>
            <a:r>
              <a:rPr lang="en-US" dirty="0"/>
              <a:t>Restricts access to authorized users only.</a:t>
            </a:r>
          </a:p>
          <a:p>
            <a:r>
              <a:rPr lang="en-US" b="1" dirty="0"/>
              <a:t>Steganography</a:t>
            </a:r>
          </a:p>
          <a:p>
            <a:pPr marL="0" indent="0">
              <a:buNone/>
            </a:pPr>
            <a:r>
              <a:rPr lang="en-US" dirty="0"/>
              <a:t>Hides information inside another file or medium.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2106721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6202FE-B970-49D9-9AE5-ABBD591B46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49680" y="497633"/>
            <a:ext cx="9692640" cy="714718"/>
          </a:xfrm>
        </p:spPr>
        <p:txBody>
          <a:bodyPr/>
          <a:lstStyle/>
          <a:p>
            <a:r>
              <a:rPr lang="en-US" dirty="0"/>
              <a:t>What is Steganography?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54AFDD-7AF9-4A73-B0F8-8FE6C1072B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Steganography is the art and science of hiding secret information inside another file, such as: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Images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Text files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Audio files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Video files </a:t>
            </a:r>
          </a:p>
          <a:p>
            <a:pPr marL="0" indent="0">
              <a:buNone/>
            </a:pPr>
            <a:r>
              <a:rPr lang="en-US" dirty="0"/>
              <a:t>The goal is to make the hidden information invisible to unauthorized users.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822852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A13D02-356C-4FEE-8E98-2C6DC0FCB9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61872" y="365760"/>
            <a:ext cx="9692640" cy="735252"/>
          </a:xfrm>
        </p:spPr>
        <p:txBody>
          <a:bodyPr/>
          <a:lstStyle/>
          <a:p>
            <a:r>
              <a:rPr lang="en-US" dirty="0"/>
              <a:t>Types of Steganography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8F7130-C8D1-434C-A4CC-404686E0E5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Text Steganography</a:t>
            </a:r>
          </a:p>
          <a:p>
            <a:pPr marL="0" indent="0">
              <a:buNone/>
            </a:pPr>
            <a:r>
              <a:rPr lang="en-US" dirty="0"/>
              <a:t>Hiding information inside text documents.</a:t>
            </a:r>
          </a:p>
          <a:p>
            <a:r>
              <a:rPr lang="en-US" b="1" dirty="0"/>
              <a:t>Image Steganography</a:t>
            </a:r>
          </a:p>
          <a:p>
            <a:pPr marL="0" indent="0">
              <a:buNone/>
            </a:pPr>
            <a:r>
              <a:rPr lang="en-US" dirty="0"/>
              <a:t>Hiding information inside digital images.</a:t>
            </a:r>
          </a:p>
          <a:p>
            <a:r>
              <a:rPr lang="en-US" b="1" dirty="0"/>
              <a:t>Audio Steganography</a:t>
            </a:r>
          </a:p>
          <a:p>
            <a:pPr marL="0" indent="0">
              <a:buNone/>
            </a:pPr>
            <a:r>
              <a:rPr lang="en-US" dirty="0"/>
              <a:t>Hiding information inside audio files.</a:t>
            </a:r>
          </a:p>
          <a:p>
            <a:r>
              <a:rPr lang="en-US" b="1" dirty="0"/>
              <a:t>Video Steganography</a:t>
            </a:r>
          </a:p>
          <a:p>
            <a:pPr marL="0" indent="0">
              <a:buNone/>
            </a:pPr>
            <a:r>
              <a:rPr lang="en-US" dirty="0"/>
              <a:t>Hiding information inside videos.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6048850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C7AF46-024E-4562-8F68-C61D925614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61872" y="365761"/>
            <a:ext cx="9692640" cy="735252"/>
          </a:xfrm>
        </p:spPr>
        <p:txBody>
          <a:bodyPr/>
          <a:lstStyle/>
          <a:p>
            <a:r>
              <a:rPr lang="en-US" dirty="0"/>
              <a:t>Introduction to Image Steganography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144AFD-FC69-4A81-B18C-A874611045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Image steganography is a technique used to hide secret information inside digital images without noticeably changing their appearance.</a:t>
            </a:r>
          </a:p>
          <a:p>
            <a:pPr marL="0" indent="0">
              <a:buNone/>
            </a:pPr>
            <a:r>
              <a:rPr lang="en-US" dirty="0"/>
              <a:t>The hidden information may include text messages, passwords, documents, or other data.</a:t>
            </a:r>
          </a:p>
          <a:p>
            <a:pPr marL="0" indent="0">
              <a:buNone/>
            </a:pPr>
            <a:r>
              <a:rPr lang="en-US" dirty="0"/>
              <a:t>Because the modifications are very small, the image appears unchanged to the human eye.</a:t>
            </a:r>
          </a:p>
          <a:p>
            <a:pPr marL="0" indent="0">
              <a:buNone/>
            </a:pPr>
            <a:r>
              <a:rPr lang="en-US" b="1" dirty="0"/>
              <a:t>Why use images?</a:t>
            </a: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Images are widely shared online.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They contain millions of pixels.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Small changes are difficult to detect.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They can store a significant amount of hidden information.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4876058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844439-5FED-4AB1-94F8-291B5550D7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61872" y="365760"/>
            <a:ext cx="9692640" cy="797456"/>
          </a:xfrm>
        </p:spPr>
        <p:txBody>
          <a:bodyPr/>
          <a:lstStyle/>
          <a:p>
            <a:r>
              <a:rPr lang="en-US" dirty="0"/>
              <a:t>How Image Steganography Works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01ACFC69-7E94-4059-8EA1-D3DFF0BB2F10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615820" y="2737454"/>
            <a:ext cx="4939004" cy="253402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R="0" lvl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Select a cover image. </a:t>
            </a:r>
          </a:p>
          <a:p>
            <a:pPr marR="0" lvl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Prepare the secret message. 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Convert the message into binary format. 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Embed the data into image pixels. 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Generate a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stego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image. 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Extract the hidden information when needed. 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BA56211-CACD-4341-9F10-D2D7DCB493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08192" y="2183363"/>
            <a:ext cx="4474028" cy="29826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0356791"/>
      </p:ext>
    </p:extLst>
  </p:cSld>
  <p:clrMapOvr>
    <a:masterClrMapping/>
  </p:clrMapOvr>
</p:sld>
</file>

<file path=ppt/theme/theme1.xml><?xml version="1.0" encoding="utf-8"?>
<a:theme xmlns:a="http://schemas.openxmlformats.org/drawingml/2006/main" name="View">
  <a:themeElements>
    <a:clrScheme name="View">
      <a:dk1>
        <a:srgbClr val="000000"/>
      </a:dk1>
      <a:lt1>
        <a:srgbClr val="FFFFFF"/>
      </a:lt1>
      <a:dk2>
        <a:srgbClr val="46464A"/>
      </a:dk2>
      <a:lt2>
        <a:srgbClr val="D6D3CC"/>
      </a:lt2>
      <a:accent1>
        <a:srgbClr val="6F6F74"/>
      </a:accent1>
      <a:accent2>
        <a:srgbClr val="92A9B9"/>
      </a:accent2>
      <a:accent3>
        <a:srgbClr val="A7B789"/>
      </a:accent3>
      <a:accent4>
        <a:srgbClr val="B9A489"/>
      </a:accent4>
      <a:accent5>
        <a:srgbClr val="8D6374"/>
      </a:accent5>
      <a:accent6>
        <a:srgbClr val="9B7362"/>
      </a:accent6>
      <a:hlink>
        <a:srgbClr val="67AABF"/>
      </a:hlink>
      <a:folHlink>
        <a:srgbClr val="ABAFA5"/>
      </a:folHlink>
    </a:clrScheme>
    <a:fontScheme name="View">
      <a:majorFont>
        <a:latin typeface="Century Schoolbook" panose="020406040505050203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Schoolbook" panose="020406040505050203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View">
      <a:fillStyleLst>
        <a:solidFill>
          <a:schemeClr val="phClr"/>
        </a:solidFill>
        <a:solidFill>
          <a:schemeClr val="phClr">
            <a:tint val="60000"/>
            <a:satMod val="120000"/>
          </a:schemeClr>
        </a:solidFill>
        <a:solidFill>
          <a:schemeClr val="phClr">
            <a:shade val="75000"/>
            <a:satMod val="16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3970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95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5240" dir="5400000" algn="tl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contourW="9525" prstMaterial="flat">
            <a:bevelT w="0" h="0" prst="coolSlant"/>
            <a:contourClr>
              <a:schemeClr val="phClr">
                <a:shade val="35000"/>
                <a:satMod val="130000"/>
              </a:schemeClr>
            </a:contourClr>
          </a:sp3d>
        </a:effectStyle>
        <a:effectStyle>
          <a:effectLst>
            <a:outerShdw blurRad="76200" dist="25400" dir="5400000" algn="tl" rotWithShape="0">
              <a:srgbClr val="000000">
                <a:alpha val="5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contourW="19050" prstMaterial="flat">
            <a:bevelT w="0" h="0" prst="coolSlant"/>
            <a:contourClr>
              <a:schemeClr val="phClr">
                <a:shade val="25000"/>
                <a:satMod val="14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4000"/>
                <a:shade val="98000"/>
                <a:satMod val="130000"/>
                <a:lumMod val="102000"/>
              </a:schemeClr>
            </a:gs>
            <a:gs pos="100000">
              <a:schemeClr val="phClr">
                <a:tint val="98000"/>
                <a:shade val="78000"/>
                <a:satMod val="140000"/>
              </a:schemeClr>
            </a:gs>
          </a:gsLst>
          <a:path path="circle">
            <a:fillToRect l="100000" t="10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iew" id="{BA0EB5A6-F2D4-4F82-977B-64ADEE4A2A69}" vid="{3969A8A2-35DB-4E3B-8885-16FD2056867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TM03457515[[fn=View]]</Template>
  <TotalTime>19</TotalTime>
  <Words>345</Words>
  <Application>Microsoft Office PowerPoint</Application>
  <PresentationFormat>Widescreen</PresentationFormat>
  <Paragraphs>54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Arial</vt:lpstr>
      <vt:lpstr>Century Schoolbook</vt:lpstr>
      <vt:lpstr>Wingdings 2</vt:lpstr>
      <vt:lpstr>View</vt:lpstr>
      <vt:lpstr>Steganography: Hiding Information in Digital Media</vt:lpstr>
      <vt:lpstr>Information Security (InfoSec)</vt:lpstr>
      <vt:lpstr>Security Techniques</vt:lpstr>
      <vt:lpstr>What is Steganography?</vt:lpstr>
      <vt:lpstr>Types of Steganography</vt:lpstr>
      <vt:lpstr>Introduction to Image Steganography</vt:lpstr>
      <vt:lpstr>How Image Steganography Works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Steganography: Hiding Information in Digital Media</dc:title>
  <dc:creator>gulperi.elenderova8@gmail.com</dc:creator>
  <cp:lastModifiedBy>gulperi.elenderova8@gmail.com</cp:lastModifiedBy>
  <cp:revision>4</cp:revision>
  <dcterms:created xsi:type="dcterms:W3CDTF">2026-06-18T21:35:12Z</dcterms:created>
  <dcterms:modified xsi:type="dcterms:W3CDTF">2026-06-18T21:57:03Z</dcterms:modified>
</cp:coreProperties>
</file>